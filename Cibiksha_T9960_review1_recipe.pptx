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495" r:id="rId6"/>
    <p:sldId id="2147470496" r:id="rId7"/>
    <p:sldId id="2147470497" r:id="rId8"/>
    <p:sldId id="2147470498" r:id="rId9"/>
    <p:sldId id="214747049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82" autoAdjust="0"/>
    <p:restoredTop sz="94660"/>
  </p:normalViewPr>
  <p:slideViewPr>
    <p:cSldViewPr snapToGrid="0">
      <p:cViewPr varScale="1">
        <p:scale>
          <a:sx n="64" d="100"/>
          <a:sy n="64" d="100"/>
        </p:scale>
        <p:origin x="7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2025.acl-long.938/?utm_source=chatgpt.com" TargetMode="External"/><Relationship Id="rId2" Type="http://schemas.openxmlformats.org/officeDocument/2006/relationships/hyperlink" Target="https://faith.futuretechsci.org/index.php/FAITH/article/view/98?utm_source=chatgpt.com" TargetMode="Externa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sciencedirect.com/science/article/pii/S0169023X26000261?utm_source=chatgpt.com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19182" y="1574427"/>
            <a:ext cx="11582564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600" dirty="0">
                <a:solidFill>
                  <a:schemeClr val="bg1"/>
                </a:solidFill>
                <a:latin typeface="Calibri (Body)"/>
              </a:rPr>
              <a:t>Leftover Ingredient-Based Recipe Recommendation using Agentic AI</a:t>
            </a:r>
          </a:p>
          <a:p>
            <a:pPr lvl="0" algn="ctr">
              <a:defRPr/>
            </a:pPr>
            <a:endParaRPr lang="en-US" sz="2800" b="1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800" b="1">
                <a:solidFill>
                  <a:schemeClr val="bg1"/>
                </a:solidFill>
                <a:cs typeface="Calibri" panose="020F0502020204030204" pitchFamily="34" charset="0"/>
              </a:rPr>
              <a:t>CIBIKSHA </a:t>
            </a:r>
            <a:r>
              <a:rPr lang="en-US" sz="2800" b="1" dirty="0">
                <a:solidFill>
                  <a:schemeClr val="bg1"/>
                </a:solidFill>
                <a:cs typeface="Calibri" panose="020F0502020204030204" pitchFamily="34" charset="0"/>
              </a:rPr>
              <a:t>V</a:t>
            </a:r>
          </a:p>
          <a:p>
            <a:pPr lvl="0" algn="ctr">
              <a:defRPr/>
            </a:pPr>
            <a:endParaRPr lang="en-US" sz="54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b="0" dirty="0">
                <a:solidFill>
                  <a:schemeClr val="tx1"/>
                </a:solidFill>
                <a:latin typeface="+mn-lt"/>
              </a:rPr>
              <a:t>An AI-based recipe recommendation system is developed to utilize available and leftover kitchen ingredients. </a:t>
            </a:r>
          </a:p>
          <a:p>
            <a:pPr lvl="0"/>
            <a:r>
              <a:rPr lang="en-IN" sz="2400" b="0" dirty="0">
                <a:solidFill>
                  <a:schemeClr val="tx1"/>
                </a:solidFill>
                <a:latin typeface="+mn-lt"/>
              </a:rPr>
              <a:t>Retrieval-Augmented Generation (RAG) is used to retrieve relevant recipes from a recipe knowledge base. </a:t>
            </a:r>
          </a:p>
          <a:p>
            <a:pPr lvl="0"/>
            <a:r>
              <a:rPr lang="en-IN" sz="2400" b="0" dirty="0">
                <a:solidFill>
                  <a:schemeClr val="tx1"/>
                </a:solidFill>
                <a:latin typeface="+mn-lt"/>
              </a:rPr>
              <a:t>FAISS performs vector similarity search using nomic-embed-text embeddings, while Llama 3.2 generates the recommendation through </a:t>
            </a:r>
            <a:r>
              <a:rPr lang="en-IN" sz="2400" b="0" dirty="0" err="1">
                <a:solidFill>
                  <a:schemeClr val="tx1"/>
                </a:solidFill>
                <a:latin typeface="+mn-lt"/>
              </a:rPr>
              <a:t>Ollama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. </a:t>
            </a:r>
          </a:p>
          <a:p>
            <a:pPr lvl="0"/>
            <a:r>
              <a:rPr lang="en-IN" sz="2400" b="0" dirty="0">
                <a:solidFill>
                  <a:schemeClr val="tx1"/>
                </a:solidFill>
                <a:latin typeface="+mn-lt"/>
              </a:rPr>
              <a:t>The system identifies matched/missing ingredients and ranks the retrieved recipes to provide suitable recommendations through a </a:t>
            </a:r>
            <a:r>
              <a:rPr lang="en-IN" sz="2400" b="0" dirty="0" err="1">
                <a:solidFill>
                  <a:schemeClr val="tx1"/>
                </a:solidFill>
                <a:latin typeface="+mn-lt"/>
              </a:rPr>
              <a:t>Streamlit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 interface.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Accept available kitchen ingredients as input.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Retrieve relevant recipes from the recipe knowledge base.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Identify matched and missing ingredients.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Recommend recipes that make better use of available ingredients.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Generate an understandable recommendation using RAG.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Help reduce avoidable kitchen food waste.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Develop an AI-based recipe recommendation system using available and leftover kitchen ingredients.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Use RAG with FAISS to retrieve relevant recipes from the recipe knowledge base.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Perform ingredient matching and missing-ingredient identification to rank suitable recipes.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Provide AI-generated recipe recommendations and cooking instructions through a </a:t>
            </a:r>
            <a:r>
              <a:rPr lang="en-IN" b="0" dirty="0" err="1">
                <a:solidFill>
                  <a:schemeClr val="tx1"/>
                </a:solidFill>
                <a:latin typeface="+mn-lt"/>
              </a:rPr>
              <a:t>Streamlit</a:t>
            </a:r>
            <a:r>
              <a:rPr lang="en-IN" b="0" dirty="0">
                <a:solidFill>
                  <a:schemeClr val="tx1"/>
                </a:solidFill>
                <a:latin typeface="+mn-lt"/>
              </a:rPr>
              <a:t> interface using Llama 3.2 and </a:t>
            </a:r>
            <a:r>
              <a:rPr lang="en-IN" b="0" dirty="0" err="1">
                <a:solidFill>
                  <a:schemeClr val="tx1"/>
                </a:solidFill>
                <a:latin typeface="+mn-lt"/>
              </a:rPr>
              <a:t>Ollama</a:t>
            </a:r>
            <a:r>
              <a:rPr lang="en-IN" b="0" dirty="0">
                <a:solidFill>
                  <a:schemeClr val="tx1"/>
                </a:solidFill>
                <a:latin typeface="+mn-lt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433ECB-8EAD-0AB5-1D66-62BCF658A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01156EF-A525-973F-C12E-82A21C6791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494097"/>
              </p:ext>
            </p:extLst>
          </p:nvPr>
        </p:nvGraphicFramePr>
        <p:xfrm>
          <a:off x="221274" y="1443792"/>
          <a:ext cx="11970725" cy="44390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94145">
                  <a:extLst>
                    <a:ext uri="{9D8B030D-6E8A-4147-A177-3AD203B41FA5}">
                      <a16:colId xmlns:a16="http://schemas.microsoft.com/office/drawing/2014/main" val="476455481"/>
                    </a:ext>
                  </a:extLst>
                </a:gridCol>
                <a:gridCol w="2394145">
                  <a:extLst>
                    <a:ext uri="{9D8B030D-6E8A-4147-A177-3AD203B41FA5}">
                      <a16:colId xmlns:a16="http://schemas.microsoft.com/office/drawing/2014/main" val="2514550243"/>
                    </a:ext>
                  </a:extLst>
                </a:gridCol>
                <a:gridCol w="2394145">
                  <a:extLst>
                    <a:ext uri="{9D8B030D-6E8A-4147-A177-3AD203B41FA5}">
                      <a16:colId xmlns:a16="http://schemas.microsoft.com/office/drawing/2014/main" val="1409733544"/>
                    </a:ext>
                  </a:extLst>
                </a:gridCol>
                <a:gridCol w="2394145">
                  <a:extLst>
                    <a:ext uri="{9D8B030D-6E8A-4147-A177-3AD203B41FA5}">
                      <a16:colId xmlns:a16="http://schemas.microsoft.com/office/drawing/2014/main" val="1741836462"/>
                    </a:ext>
                  </a:extLst>
                </a:gridCol>
                <a:gridCol w="2394145">
                  <a:extLst>
                    <a:ext uri="{9D8B030D-6E8A-4147-A177-3AD203B41FA5}">
                      <a16:colId xmlns:a16="http://schemas.microsoft.com/office/drawing/2014/main" val="752657961"/>
                    </a:ext>
                  </a:extLst>
                </a:gridCol>
              </a:tblGrid>
              <a:tr h="330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Year</a:t>
                      </a:r>
                    </a:p>
                  </a:txBody>
                  <a:tcPr marL="51003" marR="51003" marT="25501" marB="255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Paper</a:t>
                      </a:r>
                    </a:p>
                  </a:txBody>
                  <a:tcPr marL="51003" marR="51003" marT="25501" marB="255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Technique / Method Used</a:t>
                      </a:r>
                    </a:p>
                  </a:txBody>
                  <a:tcPr marL="51003" marR="51003" marT="25501" marB="255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Key Findings</a:t>
                      </a:r>
                    </a:p>
                  </a:txBody>
                  <a:tcPr marL="51003" marR="51003" marT="25501" marB="255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Relevance to Your Project</a:t>
                      </a:r>
                    </a:p>
                  </a:txBody>
                  <a:tcPr marL="51003" marR="51003" marT="25501" marB="25501" anchor="ctr"/>
                </a:tc>
                <a:extLst>
                  <a:ext uri="{0D108BD9-81ED-4DB2-BD59-A6C34878D82A}">
                    <a16:rowId xmlns:a16="http://schemas.microsoft.com/office/drawing/2014/main" val="3581604535"/>
                  </a:ext>
                </a:extLst>
              </a:tr>
              <a:tr h="1322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2025</a:t>
                      </a:r>
                    </a:p>
                  </a:txBody>
                  <a:tcPr marL="51003" marR="51003" marT="25501" marB="255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Ingredient-Only Recipe Recommendation via Self-Supervised Contrastive Learning for Sustainable Cooking – Mariyam Mohammed Ashraf &amp; M.W. Maduranga</a:t>
                      </a:r>
                    </a:p>
                  </a:txBody>
                  <a:tcPr marL="51003" marR="51003" marT="25501" marB="255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Self-supervised contrastive learning; ingredient-based semantic representation; 64-dimensional semantic space</a:t>
                      </a:r>
                    </a:p>
                  </a:txBody>
                  <a:tcPr marL="51003" marR="51003" marT="25501" marB="255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Recommends recipes using only available ingredients and addresses cold-start and semantic-matching problems. (</a:t>
                      </a:r>
                      <a:r>
                        <a:rPr lang="en-IN" sz="1000">
                          <a:hlinkClick r:id="rId2" tooltip="Ingredient-Only Recipe Recommendation via Self-Supervised Contrastive Learning for Sustainable Cooking | Journal of Future Artificial Intelligence and Technologies"/>
                        </a:rPr>
                        <a:t>Faith Future Tech Sci</a:t>
                      </a:r>
                      <a:r>
                        <a:rPr lang="en-IN" sz="1000"/>
                        <a:t>)</a:t>
                      </a:r>
                    </a:p>
                  </a:txBody>
                  <a:tcPr marL="51003" marR="51003" marT="25501" marB="255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Supports your ingredient-based recipe recommendation approach and motivates semantic retrieval rather than simple keyword matching.</a:t>
                      </a:r>
                    </a:p>
                  </a:txBody>
                  <a:tcPr marL="51003" marR="51003" marT="25501" marB="25501" anchor="ctr"/>
                </a:tc>
                <a:extLst>
                  <a:ext uri="{0D108BD9-81ED-4DB2-BD59-A6C34878D82A}">
                    <a16:rowId xmlns:a16="http://schemas.microsoft.com/office/drawing/2014/main" val="876476105"/>
                  </a:ext>
                </a:extLst>
              </a:tr>
              <a:tr h="1322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2025</a:t>
                      </a:r>
                    </a:p>
                  </a:txBody>
                  <a:tcPr marL="51003" marR="51003" marT="25501" marB="255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KERL: Knowledge-Enhanced Personalized Recipe Recommendation using Large Language Models – Fnu Mohbat &amp; Mohammed J. Zaki</a:t>
                      </a:r>
                    </a:p>
                  </a:txBody>
                  <a:tcPr marL="51003" marR="51003" marT="25501" marB="255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Knowledge Graph + LLM; entity extraction; subgraph retrieval; LLM-based recipe selection and generation</a:t>
                      </a:r>
                    </a:p>
                  </a:txBody>
                  <a:tcPr marL="51003" marR="51003" marT="25501" marB="255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Retrieves relevant food knowledge and provides personalized recommendations and recipe generation using LLMs. (</a:t>
                      </a:r>
                      <a:r>
                        <a:rPr lang="en-IN" sz="1000">
                          <a:hlinkClick r:id="rId3" tooltip="KERL: Knowledge-Enhanced Personalized Recipe Recommendation using Large Language Models - ACL Anthology"/>
                        </a:rPr>
                        <a:t>ACL Anthology</a:t>
                      </a:r>
                      <a:r>
                        <a:rPr lang="en-IN" sz="1000"/>
                        <a:t>)</a:t>
                      </a:r>
                    </a:p>
                  </a:txBody>
                  <a:tcPr marL="51003" marR="51003" marT="25501" marB="255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Closely relates to your RAG architecture, where external recipe knowledge is retrieved before Llama generates the recommendation.</a:t>
                      </a:r>
                    </a:p>
                  </a:txBody>
                  <a:tcPr marL="51003" marR="51003" marT="25501" marB="25501" anchor="ctr"/>
                </a:tc>
                <a:extLst>
                  <a:ext uri="{0D108BD9-81ED-4DB2-BD59-A6C34878D82A}">
                    <a16:rowId xmlns:a16="http://schemas.microsoft.com/office/drawing/2014/main" val="3714379091"/>
                  </a:ext>
                </a:extLst>
              </a:tr>
              <a:tr h="1463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2026</a:t>
                      </a:r>
                    </a:p>
                  </a:txBody>
                  <a:tcPr marL="51003" marR="51003" marT="25501" marB="255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Ontology-enhanced RAG for a personalised and sustainable food advisory system</a:t>
                      </a:r>
                    </a:p>
                  </a:txBody>
                  <a:tcPr marL="51003" marR="51003" marT="25501" marB="255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RAG + FoCOSA ontology + LLM; knowledge-enhanced retrieval and reasoning</a:t>
                      </a:r>
                    </a:p>
                  </a:txBody>
                  <a:tcPr marL="51003" marR="51003" marT="25501" marB="255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Reports improved retrieval effectiveness, response accuracy and fewer hallucinations for sustainable food advice. (</a:t>
                      </a:r>
                      <a:r>
                        <a:rPr lang="en-IN" sz="1000">
                          <a:hlinkClick r:id="rId4" tooltip="Ontology-enhanced RAG for a personalised and sustainable food advisory system - ScienceDirect"/>
                        </a:rPr>
                        <a:t>ScienceDirect</a:t>
                      </a:r>
                      <a:r>
                        <a:rPr lang="en-IN" sz="1000"/>
                        <a:t>)</a:t>
                      </a:r>
                    </a:p>
                  </a:txBody>
                  <a:tcPr marL="51003" marR="51003" marT="25501" marB="255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Highly relevant to your RAG-based food recommendation and food-waste reduction objective. It also supports your decision to ground LLM responses in retrieved recipe information.</a:t>
                      </a:r>
                    </a:p>
                  </a:txBody>
                  <a:tcPr marL="51003" marR="51003" marT="25501" marB="25501" anchor="ctr"/>
                </a:tc>
                <a:extLst>
                  <a:ext uri="{0D108BD9-81ED-4DB2-BD59-A6C34878D82A}">
                    <a16:rowId xmlns:a16="http://schemas.microsoft.com/office/drawing/2014/main" val="3205922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Existing systems focus mainly on semantic recommendation, personalization, or structured food knowledge.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Limited focus on directly combining available-ingredient matching with RAG-based recipe retrieval for kitchen-waste reduction.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Our project combines nomic-embed-text + FAISS + </a:t>
            </a:r>
            <a:r>
              <a:rPr lang="en-IN" b="0" dirty="0" err="1">
                <a:solidFill>
                  <a:schemeClr val="tx1"/>
                </a:solidFill>
                <a:latin typeface="+mn-lt"/>
              </a:rPr>
              <a:t>LangChain</a:t>
            </a:r>
            <a:r>
              <a:rPr lang="en-IN" b="0" dirty="0">
                <a:solidFill>
                  <a:schemeClr val="tx1"/>
                </a:solidFill>
                <a:latin typeface="+mn-lt"/>
              </a:rPr>
              <a:t> + Llama 3.2 to recommend recipes based on available ingredients.</a:t>
            </a: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4636" y="1484029"/>
            <a:ext cx="10851426" cy="4182216"/>
          </a:xfrm>
        </p:spPr>
        <p:txBody>
          <a:bodyPr/>
          <a:lstStyle/>
          <a:p>
            <a:pPr lvl="0"/>
            <a:r>
              <a:rPr lang="en-IN" b="0" dirty="0">
                <a:solidFill>
                  <a:schemeClr val="tx1"/>
                </a:solidFill>
              </a:rPr>
              <a:t>Data Preprocessing: Clean and normalize recipe data and prepare structured recipe documents. </a:t>
            </a:r>
          </a:p>
          <a:p>
            <a:pPr lvl="0"/>
            <a:r>
              <a:rPr lang="en-IN" b="0" dirty="0">
                <a:solidFill>
                  <a:schemeClr val="tx1"/>
                </a:solidFill>
              </a:rPr>
              <a:t>Embedding &amp; Retrieval: Generate embeddings using nomic-embed-text and retrieve relevant recipes using FAISS. </a:t>
            </a:r>
          </a:p>
          <a:p>
            <a:pPr lvl="0"/>
            <a:r>
              <a:rPr lang="en-IN" b="0" dirty="0">
                <a:solidFill>
                  <a:schemeClr val="tx1"/>
                </a:solidFill>
              </a:rPr>
              <a:t>Ingredient Matching &amp; Ranking: Identify matched/missing ingredients and rank recipes based on ingredient matches. </a:t>
            </a:r>
          </a:p>
          <a:p>
            <a:pPr lvl="0"/>
            <a:r>
              <a:rPr lang="en-IN" b="0" dirty="0">
                <a:solidFill>
                  <a:schemeClr val="tx1"/>
                </a:solidFill>
              </a:rPr>
              <a:t>AI Generation: Use </a:t>
            </a:r>
            <a:r>
              <a:rPr lang="en-IN" b="0" dirty="0" err="1">
                <a:solidFill>
                  <a:schemeClr val="tx1"/>
                </a:solidFill>
              </a:rPr>
              <a:t>LangChain</a:t>
            </a:r>
            <a:r>
              <a:rPr lang="en-IN" b="0" dirty="0">
                <a:solidFill>
                  <a:schemeClr val="tx1"/>
                </a:solidFill>
              </a:rPr>
              <a:t> + Llama 3.2 through </a:t>
            </a:r>
            <a:r>
              <a:rPr lang="en-IN" b="0" dirty="0" err="1">
                <a:solidFill>
                  <a:schemeClr val="tx1"/>
                </a:solidFill>
              </a:rPr>
              <a:t>Ollama</a:t>
            </a:r>
            <a:r>
              <a:rPr lang="en-IN" b="0" dirty="0">
                <a:solidFill>
                  <a:schemeClr val="tx1"/>
                </a:solidFill>
              </a:rPr>
              <a:t> to generate grounded recipe recommendations.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0B036-A7D1-1184-4004-FCB069F00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latin typeface="+mn-lt"/>
              </a:rPr>
              <a:t>System Diagram</a:t>
            </a:r>
            <a:endParaRPr lang="en-IN" sz="3600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796A0E-1855-BE75-7DFF-6BFA193CE5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888" y="1192213"/>
            <a:ext cx="9588500" cy="479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605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405897" y="473606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 Description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EE795E0-7E69-121A-CCC7-5446C6F829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281498"/>
              </p:ext>
            </p:extLst>
          </p:nvPr>
        </p:nvGraphicFramePr>
        <p:xfrm>
          <a:off x="221633" y="1191756"/>
          <a:ext cx="10992866" cy="44340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96433">
                  <a:extLst>
                    <a:ext uri="{9D8B030D-6E8A-4147-A177-3AD203B41FA5}">
                      <a16:colId xmlns:a16="http://schemas.microsoft.com/office/drawing/2014/main" val="3009312832"/>
                    </a:ext>
                  </a:extLst>
                </a:gridCol>
                <a:gridCol w="5496433">
                  <a:extLst>
                    <a:ext uri="{9D8B030D-6E8A-4147-A177-3AD203B41FA5}">
                      <a16:colId xmlns:a16="http://schemas.microsoft.com/office/drawing/2014/main" val="1390107803"/>
                    </a:ext>
                  </a:extLst>
                </a:gridCol>
              </a:tblGrid>
              <a:tr h="36950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2872250"/>
                  </a:ext>
                </a:extLst>
              </a:tr>
              <a:tr h="3695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0251378"/>
                  </a:ext>
                </a:extLst>
              </a:tr>
              <a:tr h="923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 Preprocessing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Loads the recipe dataset, cleans and normalizes ingredient data, and prepares structured recipe documents.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9991338"/>
                  </a:ext>
                </a:extLst>
              </a:tr>
              <a:tr h="923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Embedding &amp; Vector Store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Converts recipe information into embeddings using nomic-embed-text and stores them in FAISS for similarity-based retrieval.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9014865"/>
                  </a:ext>
                </a:extLst>
              </a:tr>
              <a:tr h="923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Recipe Retrieval &amp; Ranking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Retrieves relevant recipes from FAISS, identifies matched and missing ingredients, and ranks recipes based on ingredient matches.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5347432"/>
                  </a:ext>
                </a:extLst>
              </a:tr>
              <a:tr h="923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RAG &amp; AI Recommendation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Uses </a:t>
                      </a:r>
                      <a:r>
                        <a:rPr lang="en-IN" dirty="0" err="1"/>
                        <a:t>LangChain</a:t>
                      </a:r>
                      <a:r>
                        <a:rPr lang="en-IN" dirty="0"/>
                        <a:t> to provide retrieved recipe context to Llama 3.2 via </a:t>
                      </a:r>
                      <a:r>
                        <a:rPr lang="en-IN" dirty="0" err="1"/>
                        <a:t>Ollama</a:t>
                      </a:r>
                      <a:r>
                        <a:rPr lang="en-IN" dirty="0"/>
                        <a:t> and generates the final recipe recommendation.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0831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680</Words>
  <Application>Microsoft Office PowerPoint</Application>
  <PresentationFormat>Widescreen</PresentationFormat>
  <Paragraphs>79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System Diagram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Cibiksha V</cp:lastModifiedBy>
  <cp:revision>13</cp:revision>
  <dcterms:created xsi:type="dcterms:W3CDTF">2024-05-13T10:33:11Z</dcterms:created>
  <dcterms:modified xsi:type="dcterms:W3CDTF">2026-10-07T07:06:39Z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